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淘宝母婴购物数据分析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用户行为洞察与业务增长策略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2026年2月24日 | 数据分析团队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F4E79"/>
                </a:solidFill>
              </a:defRPr>
            </a:pPr>
            <a:r>
              <a:t>核心指标概览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522143" cy="320040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233926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</a:defRPr>
            </a:pPr>
            <a:r>
              <a:t>总用户数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2339263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F4E79"/>
                </a:solidFill>
              </a:defRPr>
            </a:pPr>
            <a:r>
              <a:t>1,000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233926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</a:defRPr>
            </a:pPr>
            <a:r>
              <a:t>样本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62223" y="1828800"/>
            <a:ext cx="2522143" cy="320040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45103" y="2103120"/>
            <a:ext cx="233926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</a:defRPr>
            </a:pPr>
            <a:r>
              <a:t>交易记录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45103" y="2560320"/>
            <a:ext cx="2339263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F4E79"/>
                </a:solidFill>
              </a:defRPr>
            </a:pPr>
            <a:r>
              <a:t>15,000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5103" y="3291840"/>
            <a:ext cx="233926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</a:defRPr>
            </a:pPr>
            <a:r>
              <a:t>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67247" y="1828800"/>
            <a:ext cx="2522143" cy="320040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50127" y="2103120"/>
            <a:ext cx="233926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</a:defRPr>
            </a:pPr>
            <a:r>
              <a:t>冠军客户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50127" y="2560320"/>
            <a:ext cx="2339263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F4E79"/>
                </a:solidFill>
              </a:defRPr>
            </a:pPr>
            <a:r>
              <a:t>14.5%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0127" y="3291840"/>
            <a:ext cx="233926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</a:defRPr>
            </a:pPr>
            <a:r>
              <a:t>核心收入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72271" y="1828800"/>
            <a:ext cx="2522143" cy="320040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55151" y="2103120"/>
            <a:ext cx="233926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</a:defRPr>
            </a:pPr>
            <a:r>
              <a:t>流失风险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5151" y="2560320"/>
            <a:ext cx="2339263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F4E79"/>
                </a:solidFill>
              </a:defRPr>
            </a:pPr>
            <a:r>
              <a:t>18.7%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5151" y="3291840"/>
            <a:ext cx="233926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</a:defRPr>
            </a:pPr>
            <a:r>
              <a:t>需召回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F4E79"/>
                </a:solidFill>
              </a:defRPr>
            </a:pPr>
            <a:r>
              <a:t>核心发现1: 1-2岁是黄金消费期（占比49.4%）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144000" cy="4522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💡 洞察: 1-2岁用户贡献近一半购买量，应重点运营；3岁以上用户频次最高(6.45次/人)，需维护高价值客户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F4E79"/>
                </a:solidFill>
              </a:defRPr>
            </a:pPr>
            <a:r>
              <a:t>核心发现2: 品类销量均衡，Top5差异&lt;5%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品类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购买次数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总销量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用户覆盖率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50014815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3,069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10,302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95.7%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38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3,050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10,159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95.2%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50022520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10,133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94.8%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2,965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9,945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95.2%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50008168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9,797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95.5%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572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💡 洞察: Top5品类差异&lt;5%，竞争均衡；各品类覆盖95%用户，交叉销售机会大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F4E79"/>
                </a:solidFill>
              </a:defRPr>
            </a:pPr>
            <a:r>
              <a:t>核心发现3: 平台年增长率稳定在2-3%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144000" cy="4522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💡 洞察: 年增长稳定，用户基数保持在970-980人，复购率高，平台处于健康发展期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F4E79"/>
                </a:solidFill>
              </a:defRPr>
            </a:pPr>
            <a:r>
              <a:t>核心发现4: RFM分层识别关键客户群体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客户类型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人数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占比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策略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冠军客户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145人 (14.5%)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高活跃+高频次+高消费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VIP专属服务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重要保持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180人 (18.0%)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购买频次稳定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提升客单价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重要挽留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187人 (18.7%)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曾经活跃近期未购买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立即召回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重要发展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113人 (11.3%)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新客户潜力大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培育计划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不可失去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59人 (5.9%)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曾经高价值近期沉默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紧急挽留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F6B3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F4E79"/>
                </a:solidFill>
              </a:defRPr>
            </a:pPr>
            <a:r>
              <a:t>高优先级策略 (P0)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508760"/>
            <a:ext cx="137160" cy="137160"/>
          </a:xfrm>
          <a:prstGeom prst="ellipse">
            <a:avLst/>
          </a:prstGeom>
          <a:solidFill>
            <a:srgbClr val="FF6B3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820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冠军客户VIP专属服务：145位核心客户贡献主要收入，提供优先体验、专属折扣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514600"/>
            <a:ext cx="137160" cy="137160"/>
          </a:xfrm>
          <a:prstGeom prst="ellipse">
            <a:avLst/>
          </a:prstGeom>
          <a:solidFill>
            <a:srgbClr val="FF6B3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0820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流失客户紧急召回：187位风险客户+59位不可失去客户，需立即启动召回活动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520440"/>
            <a:ext cx="137160" cy="137160"/>
          </a:xfrm>
          <a:prstGeom prst="ellipse">
            <a:avLst/>
          </a:prstGeom>
          <a:solidFill>
            <a:srgbClr val="FF6B3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10820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1-2岁用户专项运营：核心年龄段占比49.4%，推适龄商品组合套餐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137160" cy="137160"/>
          </a:xfrm>
          <a:prstGeom prst="ellipse">
            <a:avLst/>
          </a:prstGeom>
          <a:solidFill>
            <a:srgbClr val="FF6B3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389120"/>
            <a:ext cx="10820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交叉销售提升客单价：利用品类覆盖率高特点，设计跨品类组合优惠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谢谢观看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Thank You\n数据分析驱动业务增长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